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aa1d5e7106432a" /><Relationship Type="http://schemas.openxmlformats.org/officeDocument/2006/relationships/extended-properties" Target="/docProps/app.xml" Id="Rf93cdbbec6504d6e" /><Relationship Type="http://schemas.openxmlformats.org/officeDocument/2006/relationships/officeDocument" Target="/ppt/presentation.xml" Id="Rab5a116f51eb432e" /></Relationships>
</file>

<file path=ppt/presentation.xml><?xml version="1.0" encoding="utf-8"?>
<p:presentation xmlns:p="http://schemas.openxmlformats.org/presentationml/2006/main">
  <p:sldMasterIdLst>
    <p:sldMasterId xmlns:r="http://schemas.openxmlformats.org/officeDocument/2006/relationships" id="2147483648" r:id="R2a26a03fd0de4924"/>
  </p:sldMasterIdLst>
  <p:notesMasterIdLst>
    <p:notesMasterId xmlns:r="http://schemas.openxmlformats.org/officeDocument/2006/relationships" r:id="R6a0c0f15add7402f"/>
  </p:notesMasterIdLst>
  <p:sldIdLst>
    <p:sldId xmlns:r="http://schemas.openxmlformats.org/officeDocument/2006/relationships" id="256" r:id="R015a74f138a64129"/>
    <p:sldId xmlns:r="http://schemas.openxmlformats.org/officeDocument/2006/relationships" id="257" r:id="R0504394a6f124694"/>
    <p:sldId xmlns:r="http://schemas.openxmlformats.org/officeDocument/2006/relationships" id="258" r:id="R3a41df32dc144d19"/>
    <p:sldId xmlns:r="http://schemas.openxmlformats.org/officeDocument/2006/relationships" id="259" r:id="R07494b8e7a004e55"/>
    <p:sldId xmlns:r="http://schemas.openxmlformats.org/officeDocument/2006/relationships" id="260" r:id="R86339a02957e4586"/>
    <p:sldId xmlns:r="http://schemas.openxmlformats.org/officeDocument/2006/relationships" id="261" r:id="Raea9d497571a42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830df6e8994d3d" /><Relationship Type="http://schemas.openxmlformats.org/officeDocument/2006/relationships/slideMaster" Target="/ppt/slideMasters/slideMaster1.xml" Id="R2a26a03fd0de4924" /><Relationship Type="http://schemas.openxmlformats.org/officeDocument/2006/relationships/notesMaster" Target="/ppt/notesMasters/notesMaster1.xml" Id="R6a0c0f15add7402f" /><Relationship Type="http://schemas.openxmlformats.org/officeDocument/2006/relationships/presProps" Target="/ppt/presProps.xml" Id="R94f82f08b3b74be8" /><Relationship Type="http://schemas.openxmlformats.org/officeDocument/2006/relationships/tableStyles" Target="/ppt/tableStyles.xml" Id="R257f45ce8766412d" /><Relationship Type="http://schemas.openxmlformats.org/officeDocument/2006/relationships/slide" Target="/ppt/slides/slide1.xml" Id="R015a74f138a64129" /><Relationship Type="http://schemas.openxmlformats.org/officeDocument/2006/relationships/slide" Target="/ppt/slides/slide2.xml" Id="R0504394a6f124694" /><Relationship Type="http://schemas.openxmlformats.org/officeDocument/2006/relationships/slide" Target="/ppt/slides/slide3.xml" Id="R3a41df32dc144d19" /><Relationship Type="http://schemas.openxmlformats.org/officeDocument/2006/relationships/slide" Target="/ppt/slides/slide4.xml" Id="R07494b8e7a004e55" /><Relationship Type="http://schemas.openxmlformats.org/officeDocument/2006/relationships/slide" Target="/ppt/slides/slide5.xml" Id="R86339a02957e4586" /><Relationship Type="http://schemas.openxmlformats.org/officeDocument/2006/relationships/slide" Target="/ppt/slides/slide6.xml" Id="Raea9d497571a42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a112c5555c46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005565f0ad4fcd" /><Relationship Type="http://schemas.openxmlformats.org/officeDocument/2006/relationships/notesMaster" Target="/ppt/notesMasters/notesMaster1.xml" Id="R30d21d4e99764c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5829cde7a74918" /><Relationship Type="http://schemas.openxmlformats.org/officeDocument/2006/relationships/notesMaster" Target="/ppt/notesMasters/notesMaster1.xml" Id="R1e4e9a58e8814b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c7ac9718fb489b" /><Relationship Type="http://schemas.openxmlformats.org/officeDocument/2006/relationships/notesMaster" Target="/ppt/notesMasters/notesMaster1.xml" Id="Ra046dc45ad574d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9b630b09db4d87" /><Relationship Type="http://schemas.openxmlformats.org/officeDocument/2006/relationships/notesMaster" Target="/ppt/notesMasters/notesMaster1.xml" Id="R82590926998f43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beea75244d4f3c" /><Relationship Type="http://schemas.openxmlformats.org/officeDocument/2006/relationships/notesMaster" Target="/ppt/notesMasters/notesMaster1.xml" Id="R5345854586cd4d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ade418c2a04654" /><Relationship Type="http://schemas.openxmlformats.org/officeDocument/2006/relationships/notesMaster" Target="/ppt/notesMasters/notesMaster1.xml" Id="R083b4ba1d09541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bằng công việc người dùng cần hoàn thành, không mở bằng danh sách tính năng. Nhấn mạnh rằng SPDVC hỗ trợ chuẩn bị và kiểm tra; thao tác gửi hiện là mô phỏng.</a:t>
            </a:r>
          </a:p>
          <a:p xmlns:a="http://schemas.openxmlformats.org/drawingml/2006/main">
            <a:r>
              <a:t/>
            </a:r>
          </a:p>
          <a:p xmlns:a="http://schemas.openxmlformats.org/drawingml/2006/main">
            <a:r>
              <a:t>[Sources]</a:t>
            </a:r>
          </a:p>
          <a:p xmlns:a="http://schemas.openxmlformats.org/drawingml/2006/main">
            <a:r>
              <a:t>- spec.md §1–2</a:t>
            </a:r>
          </a:p>
          <a:p xmlns:a="http://schemas.openxmlformats.org/drawingml/2006/main">
            <a:r>
              <a:t>- validation/evidence/cp4-survey/analysis.json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ứng viên là tìm kiếm ngôn ngữ tự nhiên, rà soát hồ sơ trước khi gửi và hướng dẫn hội thoại. Nhóm chọn kết hợp ba phần trong một luồng có kiểm soát.</a:t>
            </a:r>
          </a:p>
          <a:p xmlns:a="http://schemas.openxmlformats.org/drawingml/2006/main">
            <a:r>
              <a:t/>
            </a:r>
          </a:p>
          <a:p xmlns:a="http://schemas.openxmlformats.org/drawingml/2006/main">
            <a:r>
              <a:t>[Sources]</a:t>
            </a:r>
          </a:p>
          <a:p xmlns:a="http://schemas.openxmlformats.org/drawingml/2006/main">
            <a:r>
              <a:t>- spec.md §2</a:t>
            </a:r>
          </a:p>
          <a:p xmlns:a="http://schemas.openxmlformats.org/drawingml/2006/main">
            <a:r>
              <a:t>- validation/evidence/cp4-survey/aggregate-results.csv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trực tiếp một luồng khai sinh hợp lệ, rồi thử một ngày không tồn tại hoặc câu yêu cầu phi logic. Nêu rõ submit_simulation chỉ lưu bản mô phỏng, không gửi Cổng DVC thật.</a:t>
            </a:r>
          </a:p>
          <a:p xmlns:a="http://schemas.openxmlformats.org/drawingml/2006/main">
            <a:r>
              <a:t/>
            </a:r>
          </a:p>
          <a:p xmlns:a="http://schemas.openxmlformats.org/drawingml/2006/main">
            <a:r>
              <a:t>[Sources]</a:t>
            </a:r>
          </a:p>
          <a:p xmlns:a="http://schemas.openxmlformats.org/drawingml/2006/main">
            <a:r>
              <a:t>- spec.md §4, §6</a:t>
            </a:r>
          </a:p>
          <a:p xmlns:a="http://schemas.openxmlformats.org/drawingml/2006/main">
            <a:r>
              <a:t>- codebase/backend/tests/test_agent_workflow.py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Lỗi đáng giá nhất từng thấy là dữ liệu slot sai làm luồng rơi vào cơ chế chống lặp. Nhóm sửa bằng validation theo từng trường trước khi lưu; golden set không bị nới lỏng.</a:t>
            </a:r>
          </a:p>
          <a:p xmlns:a="http://schemas.openxmlformats.org/drawingml/2006/main">
            <a:r>
              <a:t/>
            </a:r>
          </a:p>
          <a:p xmlns:a="http://schemas.openxmlformats.org/drawingml/2006/main">
            <a:r>
              <a:t>[Sources]</a:t>
            </a:r>
          </a:p>
          <a:p xmlns:a="http://schemas.openxmlformats.org/drawingml/2006/main">
            <a:r>
              <a:t>- spec.md §7</a:t>
            </a:r>
          </a:p>
          <a:p xmlns:a="http://schemas.openxmlformats.org/drawingml/2006/main">
            <a:r>
              <a:t>- eval/report.md</a:t>
            </a:r>
          </a:p>
          <a:p xmlns:a="http://schemas.openxmlformats.org/drawingml/2006/main">
            <a:r>
              <a:t>- codebase/backend/tests/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nguyên văn ngắn gọn, sau đó chỉ rõ thay đổi nào đã được triển khai. Có thêm kiểm thử an toàn cho yêu cầu bỏ qua quy định hoặc tự cấp quyền.</a:t>
            </a:r>
          </a:p>
          <a:p xmlns:a="http://schemas.openxmlformats.org/drawingml/2006/main">
            <a:r>
              <a:t/>
            </a:r>
          </a:p>
          <a:p xmlns:a="http://schemas.openxmlformats.org/drawingml/2006/main">
            <a:r>
              <a:t>[Sources]</a:t>
            </a:r>
          </a:p>
          <a:p xmlns:a="http://schemas.openxmlformats.org/drawingml/2006/main">
            <a:r>
              <a:t>- validation/feedback-log.md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học: LLM có thể lập kế hoạch và hỏi linh hoạt, nhưng quyền hạn, dữ liệu hợp lệ và bước gửi phải do các cổng xác định bên ngoài model kiểm soát.</a:t>
            </a:r>
          </a:p>
          <a:p xmlns:a="http://schemas.openxmlformats.org/drawingml/2006/main">
            <a:r>
              <a:t/>
            </a:r>
          </a:p>
          <a:p xmlns:a="http://schemas.openxmlformats.org/drawingml/2006/main">
            <a:r>
              <a:t>[Sources]</a:t>
            </a:r>
          </a:p>
          <a:p xmlns:a="http://schemas.openxmlformats.org/drawingml/2006/main">
            <a:r>
              <a:t>- spec.md §4b, §9</a:t>
            </a:r>
          </a:p>
          <a:p xmlns:a="http://schemas.openxmlformats.org/drawingml/2006/main">
            <a:r>
              <a:t>- validation/feedback-log.md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83285241244d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611daedf1f4583" /><Relationship Type="http://schemas.openxmlformats.org/officeDocument/2006/relationships/slideLayout" Target="/ppt/slideLayouts/slideLayout1.xml" Id="R2575e1cddfd6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75e1cddfd6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c8e70b05f7441b0" /><Relationship Type="http://schemas.openxmlformats.org/officeDocument/2006/relationships/notesSlide" Target="/ppt/notesSlides/notesSlide1.xml" Id="R7e24952363084b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e2292be4d7c490e" /><Relationship Type="http://schemas.openxmlformats.org/officeDocument/2006/relationships/notesSlide" Target="/ppt/notesSlides/notesSlide2.xml" Id="Re4b84b9c9eb148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2bbb69642d46c2" /><Relationship Type="http://schemas.openxmlformats.org/officeDocument/2006/relationships/notesSlide" Target="/ppt/notesSlides/notesSlide3.xml" Id="Rf212448cd2e94f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f37d43de21466a" /><Relationship Type="http://schemas.openxmlformats.org/officeDocument/2006/relationships/notesSlide" Target="/ppt/notesSlides/notesSlide4.xml" Id="Re7de0d6bc96441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9deafe2b384e98" /><Relationship Type="http://schemas.openxmlformats.org/officeDocument/2006/relationships/notesSlide" Target="/ppt/notesSlides/notesSlide5.xml" Id="R4ee43b3f448144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a3c855bccf4b91" /><Relationship Type="http://schemas.openxmlformats.org/officeDocument/2006/relationships/notesSlide" Target="/ppt/notesSlides/notesSlide6.xml" Id="R0805cca244dc420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51C4FC16-F508-49F9-ADFC-23321E972DAC}"/>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Hiểu đúng thủ tục.
Hoàn thiện đúng hồ sơ.</a:t>
            </a:r>
          </a:p>
        </p:txBody>
      </p:sp>
      <p:sp>
        <p:nvSpPr>
          <p:cNvPr id="2" name="Subtitle-4-2">
            <a:extLst xmlns:a="http://schemas.openxmlformats.org/drawingml/2006/main">
              <a:ext uri="{FF2B5EF4-FFF2-40B4-BE49-F238E27FC236}">
                <a16:creationId xmlns:a16="http://schemas.microsoft.com/office/drawing/2014/main" id="{48744603-CF39-442A-9F1E-3F3C07C5D4ED}"/>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JTBD: tìm hướng dẫn và hoàn thiện hồ sơ trong một luồng — vì 26/45 người khảo sát từng phải đi lại do hồ sơ thiếu hoặc sai.</a:t>
            </a:r>
          </a:p>
        </p:txBody>
      </p:sp>
      <p:sp>
        <p:nvSpPr>
          <p:cNvPr id="3" name="Subtitle-4-3">
            <a:extLst xmlns:a="http://schemas.openxmlformats.org/drawingml/2006/main">
              <a:ext uri="{FF2B5EF4-FFF2-40B4-BE49-F238E27FC236}">
                <a16:creationId xmlns:a16="http://schemas.microsoft.com/office/drawing/2014/main" id="{5ECFC398-1E02-4F74-B224-0985EE295B25}"/>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SPDVC  •  D305  •  K4</a:t>
            </a:r>
          </a:p>
        </p:txBody>
      </p:sp>
    </p:spTree>
    <p:extLst>
      <p:ext uri="{BB962C8B-B14F-4D97-AF65-F5344CB8AC3E}">
        <p14:creationId xmlns:p14="http://schemas.microsoft.com/office/powerpoint/2010/main" val="8242519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7ABC7B0C-5723-4FFF-80FF-A5CF6FD78019}"/>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744088BE-23A2-4A32-A756-747945D10C0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9CF1920E-5F88-4D6C-BD27-3F58BCF1FA7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15F62FE2-5068-4D5A-8777-02FAED4D705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02</a:t>
            </a:r>
          </a:p>
        </p:txBody>
      </p:sp>
      <p:sp>
        <p:nvSpPr>
          <p:cNvPr id="5" name="Title-2-5">
            <a:extLst xmlns:a="http://schemas.openxmlformats.org/drawingml/2006/main">
              <a:ext uri="{FF2B5EF4-FFF2-40B4-BE49-F238E27FC236}">
                <a16:creationId xmlns:a16="http://schemas.microsoft.com/office/drawing/2014/main" id="{C82C7B2F-6683-42F7-816F-5159A067D3D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Vì sao chọn trợ lý chuẩn bị hồ sơ?</a:t>
            </a:r>
          </a:p>
        </p:txBody>
      </p:sp>
      <p:sp>
        <p:nvSpPr>
          <p:cNvPr id="6" name="Content-Placeholder-9-6">
            <a:extLst xmlns:a="http://schemas.openxmlformats.org/drawingml/2006/main">
              <a:ext uri="{FF2B5EF4-FFF2-40B4-BE49-F238E27FC236}">
                <a16:creationId xmlns:a16="http://schemas.microsoft.com/office/drawing/2014/main" id="{F39094E5-FBA1-4EE5-8C5B-18FDFC1409FE}"/>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Khó tìm đúng tên thủ tục</a:t>
            </a:r>
          </a:p>
        </p:txBody>
      </p:sp>
      <p:sp>
        <p:nvSpPr>
          <p:cNvPr id="7" name="Content-Placeholder-10-7">
            <a:extLst xmlns:a="http://schemas.openxmlformats.org/drawingml/2006/main">
              <a:ext uri="{FF2B5EF4-FFF2-40B4-BE49-F238E27FC236}">
                <a16:creationId xmlns:a16="http://schemas.microsoft.com/office/drawing/2014/main" id="{BC7ACC9B-C841-4907-ACEC-E6CD86766EB0}"/>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Danh mục hồ sơ chưa rõ</a:t>
            </a:r>
          </a:p>
        </p:txBody>
      </p:sp>
      <p:sp>
        <p:nvSpPr>
          <p:cNvPr id="8" name="Content-Placeholder-11-8">
            <a:extLst xmlns:a="http://schemas.openxmlformats.org/drawingml/2006/main">
              <a:ext uri="{FF2B5EF4-FFF2-40B4-BE49-F238E27FC236}">
                <a16:creationId xmlns:a16="http://schemas.microsoft.com/office/drawing/2014/main" id="{6F16BF80-5460-4C53-B077-5105C984A05F}"/>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Phải đi lại vì thiếu/sai hồ sơ</a:t>
            </a:r>
          </a:p>
        </p:txBody>
      </p:sp>
      <p:sp>
        <p:nvSpPr>
          <p:cNvPr id="9" name="Content-Placeholder-9-9">
            <a:extLst xmlns:a="http://schemas.openxmlformats.org/drawingml/2006/main">
              <a:ext uri="{FF2B5EF4-FFF2-40B4-BE49-F238E27FC236}">
                <a16:creationId xmlns:a16="http://schemas.microsoft.com/office/drawing/2014/main" id="{35436D22-4AC3-48C2-8A5D-5B934867E72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24/45</a:t>
            </a:r>
          </a:p>
        </p:txBody>
      </p:sp>
      <p:sp>
        <p:nvSpPr>
          <p:cNvPr id="10" name="Content-Placeholder-9-10">
            <a:extLst xmlns:a="http://schemas.openxmlformats.org/drawingml/2006/main">
              <a:ext uri="{FF2B5EF4-FFF2-40B4-BE49-F238E27FC236}">
                <a16:creationId xmlns:a16="http://schemas.microsoft.com/office/drawing/2014/main" id="{84CDBF85-579B-419C-BD83-1E8F680EE0F1}"/>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26/45</a:t>
            </a:r>
          </a:p>
        </p:txBody>
      </p:sp>
      <p:sp>
        <p:nvSpPr>
          <p:cNvPr id="11" name="Content-Placeholder-9-11">
            <a:extLst xmlns:a="http://schemas.openxmlformats.org/drawingml/2006/main">
              <a:ext uri="{FF2B5EF4-FFF2-40B4-BE49-F238E27FC236}">
                <a16:creationId xmlns:a16="http://schemas.microsoft.com/office/drawing/2014/main" id="{9D02B714-4420-4988-8036-9E711C5709DA}"/>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17/45</a:t>
            </a:r>
          </a:p>
        </p:txBody>
      </p:sp>
      <p:sp>
        <p:nvSpPr>
          <p:cNvPr id="12" name="Content-Placeholder-15-12">
            <a:extLst xmlns:a="http://schemas.openxmlformats.org/drawingml/2006/main">
              <a:ext uri="{FF2B5EF4-FFF2-40B4-BE49-F238E27FC236}">
                <a16:creationId xmlns:a16="http://schemas.microsoft.com/office/drawing/2014/main" id="{85B3A566-742A-4881-891F-AF60BFFAE23A}"/>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Ba hướng đã cân nhắc</a:t>
            </a:r>
          </a:p>
          <a:p xmlns:a="http://schemas.openxmlformats.org/drawingml/2006/main">
            <a:pPr algn="l">
              <a:defRPr sz="1600">
                <a:solidFill>
                  <a:srgbClr val="000000"/>
                </a:solidFill>
                <a:latin typeface="Helvetica Neue"/>
                <a:ea typeface="Helvetica Neue"/>
                <a:cs typeface="Helvetica Neue"/>
              </a:defRPr>
            </a:pPr>
            <a:r>
              <a:t>Ưu tiên vấn đề vừa phổ biến, vừa có thể kiểm chứng bằng prototype. Không chọn “cải thiện thái độ cán bộ” vì phần mềm không kiểm soát trực tiếp điểm nghẽn đó.</a:t>
            </a:r>
          </a:p>
        </p:txBody>
      </p:sp>
    </p:spTree>
    <p:extLst>
      <p:ext uri="{BB962C8B-B14F-4D97-AF65-F5344CB8AC3E}">
        <p14:creationId xmlns:p14="http://schemas.microsoft.com/office/powerpoint/2010/main" val="5355416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8D7EB9F7-F7DC-4D13-9FDD-2DF17C9418A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03</a:t>
            </a:r>
          </a:p>
        </p:txBody>
      </p:sp>
      <p:sp>
        <p:nvSpPr>
          <p:cNvPr id="2" name="Title-10-3">
            <a:extLst xmlns:a="http://schemas.openxmlformats.org/drawingml/2006/main">
              <a:ext uri="{FF2B5EF4-FFF2-40B4-BE49-F238E27FC236}">
                <a16:creationId xmlns:a16="http://schemas.microsoft.com/office/drawing/2014/main" id="{E26FBA23-F887-4351-B53B-18A3A250C07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Demo: Agent đề xuất, cổng kiểm soát quyết định</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CD8C0710-5DFA-4F80-8D96-1EE7385E99F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F5C9608-5AC0-4C54-9C8F-C6465089FD70}"/>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F2202D69-2425-4D69-9038-17E4DD07D8FA}"/>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A3D57B1-0409-43B8-90C7-3DA05EF2D99C}"/>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01  NHẬN DIỆN</a:t>
            </a:r>
          </a:p>
        </p:txBody>
      </p:sp>
      <p:sp>
        <p:nvSpPr>
          <p:cNvPr id="8" name="Content-Placeholder-15-9">
            <a:extLst xmlns:a="http://schemas.openxmlformats.org/drawingml/2006/main">
              <a:ext uri="{FF2B5EF4-FFF2-40B4-BE49-F238E27FC236}">
                <a16:creationId xmlns:a16="http://schemas.microsoft.com/office/drawing/2014/main" id="{AE779255-7A5A-4DBC-A3AB-B37C3506F0C6}"/>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02  XÁC MINH</a:t>
            </a:r>
          </a:p>
        </p:txBody>
      </p:sp>
      <p:sp>
        <p:nvSpPr>
          <p:cNvPr id="9" name="Content-Placeholder-15-10">
            <a:extLst xmlns:a="http://schemas.openxmlformats.org/drawingml/2006/main">
              <a:ext uri="{FF2B5EF4-FFF2-40B4-BE49-F238E27FC236}">
                <a16:creationId xmlns:a16="http://schemas.microsoft.com/office/drawing/2014/main" id="{C353C066-7CC5-40AF-9E12-BF4EBA0EFE4B}"/>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03  XÁC NHẬN</a:t>
            </a:r>
          </a:p>
        </p:txBody>
      </p:sp>
      <p:sp>
        <p:nvSpPr>
          <p:cNvPr id="10" name="Text-Placeholder-16-11">
            <a:extLst xmlns:a="http://schemas.openxmlformats.org/drawingml/2006/main">
              <a:ext uri="{FF2B5EF4-FFF2-40B4-BE49-F238E27FC236}">
                <a16:creationId xmlns:a16="http://schemas.microsoft.com/office/drawing/2014/main" id="{946AA559-8521-4D52-85E4-23EB1299E8FC}"/>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Case khó bị chặn</a:t>
            </a:r>
          </a:p>
          <a:p xmlns:a="http://schemas.openxmlformats.org/drawingml/2006/main">
            <a:pPr algn="l">
              <a:defRPr sz="2400">
                <a:solidFill>
                  <a:srgbClr val="000000"/>
                </a:solidFill>
                <a:latin typeface="Helvetica Neue"/>
                <a:ea typeface="Helvetica Neue"/>
                <a:cs typeface="Helvetica Neue"/>
              </a:defRPr>
            </a:pPr>
            <a:r>
              <a:t>Ngày 9999-99-99 hay yêu cầu phi logic → báo lỗi, hỏi lại; không gọi tool nộp.</a:t>
            </a:r>
          </a:p>
        </p:txBody>
      </p:sp>
      <p:sp>
        <p:nvSpPr>
          <p:cNvPr id="11" name="Text-Placeholder-16-12">
            <a:extLst xmlns:a="http://schemas.openxmlformats.org/drawingml/2006/main">
              <a:ext uri="{FF2B5EF4-FFF2-40B4-BE49-F238E27FC236}">
                <a16:creationId xmlns:a16="http://schemas.microsoft.com/office/drawing/2014/main" id="{261B14DD-40BD-4296-BA36-D43AC4CDB704}"/>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Yêu cầu bình thường</a:t>
            </a:r>
          </a:p>
          <a:p xmlns:a="http://schemas.openxmlformats.org/drawingml/2006/main">
            <a:pPr algn="l">
              <a:defRPr sz="2400">
                <a:solidFill>
                  <a:srgbClr val="000000"/>
                </a:solidFill>
                <a:latin typeface="Helvetica Neue"/>
                <a:ea typeface="Helvetica Neue"/>
                <a:cs typeface="Helvetica Neue"/>
              </a:defRPr>
            </a:pPr>
            <a:r>
              <a:t>“Đăng ký khai sinh cho bé” → chọn tự điền hoặc Agent hỏi từng bước.</a:t>
            </a:r>
          </a:p>
        </p:txBody>
      </p:sp>
      <p:sp>
        <p:nvSpPr>
          <p:cNvPr id="12" name="Text-Placeholder-16-13">
            <a:extLst xmlns:a="http://schemas.openxmlformats.org/drawingml/2006/main">
              <a:ext uri="{FF2B5EF4-FFF2-40B4-BE49-F238E27FC236}">
                <a16:creationId xmlns:a16="http://schemas.microsoft.com/office/drawing/2014/main" id="{55E9702A-40D3-4D83-AB90-623BD419BFDB}"/>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Hai lần xác nhận</a:t>
            </a:r>
          </a:p>
          <a:p xmlns:a="http://schemas.openxmlformats.org/drawingml/2006/main">
            <a:pPr algn="l">
              <a:defRPr sz="2400">
                <a:solidFill>
                  <a:srgbClr val="000000"/>
                </a:solidFill>
                <a:latin typeface="Helvetica Neue"/>
                <a:ea typeface="Helvetica Neue"/>
                <a:cs typeface="Helvetica Neue"/>
              </a:defRPr>
            </a:pPr>
            <a:r>
              <a:t>Rà soát → PDF → xác nhận cuối → biên nhận mô phỏng. Phạm vi: 3 biểu mẫu.</a:t>
            </a:r>
          </a:p>
        </p:txBody>
      </p:sp>
    </p:spTree>
    <p:extLst>
      <p:ext uri="{BB962C8B-B14F-4D97-AF65-F5344CB8AC3E}">
        <p14:creationId xmlns:p14="http://schemas.microsoft.com/office/powerpoint/2010/main" val="8303493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05160DCC-307F-41A7-9871-3A4C10FA952C}"/>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6B3A44B9-A5D9-4C80-B680-2844F4173693}"/>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3A939FB0-6499-4ADD-B5E8-38CBC6F32128}"/>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61C7FE92-FBA7-45D7-86A0-03BFBC7DB9C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04</a:t>
            </a:r>
          </a:p>
        </p:txBody>
      </p:sp>
      <p:sp>
        <p:nvSpPr>
          <p:cNvPr id="5" name="Title-2-5">
            <a:extLst xmlns:a="http://schemas.openxmlformats.org/drawingml/2006/main">
              <a:ext uri="{FF2B5EF4-FFF2-40B4-BE49-F238E27FC236}">
                <a16:creationId xmlns:a16="http://schemas.microsoft.com/office/drawing/2014/main" id="{8AEDF037-A2EF-454F-AED4-1F0E1E98BD3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Đo bằng chuẩn cố định, không hạ độ khó</a:t>
            </a:r>
          </a:p>
        </p:txBody>
      </p:sp>
      <p:sp>
        <p:nvSpPr>
          <p:cNvPr id="6" name="Content-Placeholder-9-6">
            <a:extLst xmlns:a="http://schemas.openxmlformats.org/drawingml/2006/main">
              <a:ext uri="{FF2B5EF4-FFF2-40B4-BE49-F238E27FC236}">
                <a16:creationId xmlns:a16="http://schemas.microsoft.com/office/drawing/2014/main" id="{C2A102D6-79B2-4397-B606-1588ADADC58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Golden set đạt 100%</a:t>
            </a:r>
          </a:p>
        </p:txBody>
      </p:sp>
      <p:sp>
        <p:nvSpPr>
          <p:cNvPr id="7" name="Content-Placeholder-10-7">
            <a:extLst xmlns:a="http://schemas.openxmlformats.org/drawingml/2006/main">
              <a:ext uri="{FF2B5EF4-FFF2-40B4-BE49-F238E27FC236}">
                <a16:creationId xmlns:a16="http://schemas.microsoft.com/office/drawing/2014/main" id="{4F4F4D2E-82C2-4505-8DA2-7A72CCEFF7B1}"/>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Frontend tests qua</a:t>
            </a:r>
          </a:p>
        </p:txBody>
      </p:sp>
      <p:sp>
        <p:nvSpPr>
          <p:cNvPr id="8" name="Content-Placeholder-11-8">
            <a:extLst xmlns:a="http://schemas.openxmlformats.org/drawingml/2006/main">
              <a:ext uri="{FF2B5EF4-FFF2-40B4-BE49-F238E27FC236}">
                <a16:creationId xmlns:a16="http://schemas.microsoft.com/office/drawing/2014/main" id="{3226586E-8F5C-4497-8409-F4E217466A47}"/>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Backend tests qua</a:t>
            </a:r>
          </a:p>
        </p:txBody>
      </p:sp>
      <p:sp>
        <p:nvSpPr>
          <p:cNvPr id="9" name="Content-Placeholder-9-9">
            <a:extLst xmlns:a="http://schemas.openxmlformats.org/drawingml/2006/main">
              <a:ext uri="{FF2B5EF4-FFF2-40B4-BE49-F238E27FC236}">
                <a16:creationId xmlns:a16="http://schemas.microsoft.com/office/drawing/2014/main" id="{46FED8AF-9C10-436A-BB16-33DE409F9F52}"/>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25/25</a:t>
            </a:r>
          </a:p>
        </p:txBody>
      </p:sp>
      <p:sp>
        <p:nvSpPr>
          <p:cNvPr id="10" name="Content-Placeholder-9-10">
            <a:extLst xmlns:a="http://schemas.openxmlformats.org/drawingml/2006/main">
              <a:ext uri="{FF2B5EF4-FFF2-40B4-BE49-F238E27FC236}">
                <a16:creationId xmlns:a16="http://schemas.microsoft.com/office/drawing/2014/main" id="{4F3315B7-7864-49DF-9245-5976317F677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211</a:t>
            </a:r>
          </a:p>
        </p:txBody>
      </p:sp>
      <p:sp>
        <p:nvSpPr>
          <p:cNvPr id="11" name="Content-Placeholder-9-11">
            <a:extLst xmlns:a="http://schemas.openxmlformats.org/drawingml/2006/main">
              <a:ext uri="{FF2B5EF4-FFF2-40B4-BE49-F238E27FC236}">
                <a16:creationId xmlns:a16="http://schemas.microsoft.com/office/drawing/2014/main" id="{2BDD07B4-6255-47DA-9C14-5E16079BE6B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27/27</a:t>
            </a:r>
          </a:p>
        </p:txBody>
      </p:sp>
      <p:sp>
        <p:nvSpPr>
          <p:cNvPr id="12" name="Content-Placeholder-15-12">
            <a:extLst xmlns:a="http://schemas.openxmlformats.org/drawingml/2006/main">
              <a:ext uri="{FF2B5EF4-FFF2-40B4-BE49-F238E27FC236}">
                <a16:creationId xmlns:a16="http://schemas.microsoft.com/office/drawing/2014/main" id="{E1CA0A85-F6DC-439C-9029-9B26DCC28B22}"/>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Quality bar</a:t>
            </a:r>
          </a:p>
          <a:p xmlns:a="http://schemas.openxmlformats.org/drawingml/2006/main">
            <a:pPr algn="l">
              <a:defRPr sz="1600">
                <a:solidFill>
                  <a:srgbClr val="000000"/>
                </a:solidFill>
                <a:latin typeface="Helvetica Neue"/>
                <a:ea typeface="Helvetica Neue"/>
                <a:cs typeface="Helvetica Neue"/>
              </a:defRPr>
            </a:pPr>
            <a:r>
              <a:t>Cam kết trước khi chạy: đạt tối thiểu 19/25 và không có case bịa nguồn, sai thông tin trọng yếu hoặc thực hiện hành động vượt thẩm quyền.</a:t>
            </a:r>
          </a:p>
        </p:txBody>
      </p:sp>
    </p:spTree>
    <p:extLst>
      <p:ext uri="{BB962C8B-B14F-4D97-AF65-F5344CB8AC3E}">
        <p14:creationId xmlns:p14="http://schemas.microsoft.com/office/powerpoint/2010/main" val="169809730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7E28BBAE-B59D-45A7-A2F5-6C2835CB128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05</a:t>
            </a:r>
          </a:p>
        </p:txBody>
      </p:sp>
      <p:sp>
        <p:nvSpPr>
          <p:cNvPr id="2" name="Google-Shape-533-p58-3">
            <a:extLst xmlns:a="http://schemas.openxmlformats.org/drawingml/2006/main">
              <a:ext uri="{FF2B5EF4-FFF2-40B4-BE49-F238E27FC236}">
                <a16:creationId xmlns:a16="http://schemas.microsoft.com/office/drawing/2014/main" id="{64C4C1AD-05EB-4233-860A-6F0939921823}"/>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Phản hồi người thật đã thay đổi luồng sản phẩm</a:t>
            </a:r>
          </a:p>
        </p:txBody>
      </p:sp>
      <p:sp>
        <p:nvSpPr>
          <p:cNvPr id="3" name="Rounded-Rectangle-1-4">
            <a:extLst xmlns:a="http://schemas.openxmlformats.org/drawingml/2006/main">
              <a:ext uri="{FF2B5EF4-FFF2-40B4-BE49-F238E27FC236}">
                <a16:creationId xmlns:a16="http://schemas.microsoft.com/office/drawing/2014/main" id="{7E666282-7CD3-432E-804B-DCF147AA7C0E}"/>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17D71407-1254-4F9B-B32A-D7BE235F0965}"/>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“Đừng hiện kế hoạch và tên tool; hãy hỏi tôi muốn tự điền hay trả lời từng bước.”</a:t>
            </a:r>
          </a:p>
        </p:txBody>
      </p:sp>
      <p:sp>
        <p:nvSpPr>
          <p:cNvPr id="5" name="Content-Placeholder-15-6">
            <a:extLst xmlns:a="http://schemas.openxmlformats.org/drawingml/2006/main">
              <a:ext uri="{FF2B5EF4-FFF2-40B4-BE49-F238E27FC236}">
                <a16:creationId xmlns:a16="http://schemas.microsoft.com/office/drawing/2014/main" id="{4B344210-B28F-4252-B729-337B1A7D756B}"/>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Lê Thị Hương Ly — CMC ATI</a:t>
            </a:r>
          </a:p>
          <a:p xmlns:a="http://schemas.openxmlformats.org/drawingml/2006/main">
            <a:pPr algn="l">
              <a:defRPr sz="1600">
                <a:solidFill>
                  <a:srgbClr val="000000"/>
                </a:solidFill>
                <a:latin typeface="Helvetica Neue"/>
                <a:ea typeface="Helvetica Neue"/>
                <a:cs typeface="Helvetica Neue"/>
              </a:defRPr>
            </a:pPr>
            <a:r>
              <a:t>Đã ẩn plan/tool nội bộ</a:t>
            </a:r>
          </a:p>
          <a:p xmlns:a="http://schemas.openxmlformats.org/drawingml/2006/main">
            <a:pPr algn="l">
              <a:defRPr sz="1600">
                <a:solidFill>
                  <a:srgbClr val="000000"/>
                </a:solidFill>
                <a:latin typeface="Helvetica Neue"/>
                <a:ea typeface="Helvetica Neue"/>
                <a:cs typeface="Helvetica Neue"/>
              </a:defRPr>
            </a:pPr>
            <a:r>
              <a:t>Đã thêm 2 chế độ nhập</a:t>
            </a:r>
          </a:p>
        </p:txBody>
      </p:sp>
      <p:sp>
        <p:nvSpPr>
          <p:cNvPr id="6" name="Rounded-Rectangle-7-7">
            <a:extLst xmlns:a="http://schemas.openxmlformats.org/drawingml/2006/main">
              <a:ext uri="{FF2B5EF4-FFF2-40B4-BE49-F238E27FC236}">
                <a16:creationId xmlns:a16="http://schemas.microsoft.com/office/drawing/2014/main" id="{8B22CDB1-9FBB-4846-A745-6DFFF5DA5E62}"/>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1907FCCE-35AA-4F1C-888B-CA17457C7962}"/>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“Cho xem lại PDF và xác nhận lần cuối trước khi gửi.”</a:t>
            </a:r>
          </a:p>
        </p:txBody>
      </p:sp>
      <p:sp>
        <p:nvSpPr>
          <p:cNvPr id="8" name="Content-Placeholder-15-9">
            <a:extLst xmlns:a="http://schemas.openxmlformats.org/drawingml/2006/main">
              <a:ext uri="{FF2B5EF4-FFF2-40B4-BE49-F238E27FC236}">
                <a16:creationId xmlns:a16="http://schemas.microsoft.com/office/drawing/2014/main" id="{30A21D79-E3BE-4512-A6CB-5306AB05D2C4}"/>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Vũ Minh Trí — người dùng DVC</a:t>
            </a:r>
          </a:p>
          <a:p xmlns:a="http://schemas.openxmlformats.org/drawingml/2006/main">
            <a:pPr algn="l">
              <a:defRPr sz="1600">
                <a:solidFill>
                  <a:srgbClr val="000000"/>
                </a:solidFill>
                <a:latin typeface="Helvetica Neue"/>
                <a:ea typeface="Helvetica Neue"/>
                <a:cs typeface="Helvetica Neue"/>
              </a:defRPr>
            </a:pPr>
            <a:r>
              <a:t>Đã nhúng form vào chat</a:t>
            </a:r>
          </a:p>
          <a:p xmlns:a="http://schemas.openxmlformats.org/drawingml/2006/main">
            <a:pPr algn="l">
              <a:defRPr sz="1600">
                <a:solidFill>
                  <a:srgbClr val="000000"/>
                </a:solidFill>
                <a:latin typeface="Helvetica Neue"/>
                <a:ea typeface="Helvetica Neue"/>
                <a:cs typeface="Helvetica Neue"/>
              </a:defRPr>
            </a:pPr>
            <a:r>
              <a:t>Đã thêm PDF + xác nhận cuối</a:t>
            </a:r>
          </a:p>
        </p:txBody>
      </p:sp>
      <p:sp>
        <p:nvSpPr>
          <p:cNvPr id="9" name="Content-Placeholder-15-10">
            <a:extLst xmlns:a="http://schemas.openxmlformats.org/drawingml/2006/main">
              <a:ext uri="{FF2B5EF4-FFF2-40B4-BE49-F238E27FC236}">
                <a16:creationId xmlns:a16="http://schemas.microsoft.com/office/drawing/2014/main" id="{0F5086F5-3720-4FF9-841A-6A419C692BB6}"/>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5 người ngoài nhóm đã thử prototype</a:t>
            </a:r>
          </a:p>
          <a:p xmlns:a="http://schemas.openxmlformats.org/drawingml/2006/main">
            <a:pPr algn="l">
              <a:defRPr sz="1600">
                <a:solidFill>
                  <a:srgbClr val="000000"/>
                </a:solidFill>
                <a:latin typeface="Helvetica Neue"/>
                <a:ea typeface="Helvetica Neue"/>
                <a:cs typeface="Helvetica Neue"/>
              </a:defRPr>
            </a:pPr>
            <a:r>
              <a:t>Hai phản hồi dưới đây dẫn tới thay đổi trực tiếp trên giao diện và workflow.</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1735705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E0CE2C93-E3F0-4225-B7B4-18F529DC4D0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06</a:t>
            </a:r>
          </a:p>
        </p:txBody>
      </p:sp>
      <p:sp>
        <p:nvSpPr>
          <p:cNvPr id="2" name="Title-10-3">
            <a:extLst xmlns:a="http://schemas.openxmlformats.org/drawingml/2006/main">
              <a:ext uri="{FF2B5EF4-FFF2-40B4-BE49-F238E27FC236}">
                <a16:creationId xmlns:a16="http://schemas.microsoft.com/office/drawing/2014/main" id="{6F56B586-0004-428A-8A62-0D6C8ED1070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Nếu có thêm 1 tuần: biến demo an toàn thành dịch vụ thật</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BDEE5D6-02E4-4C02-B915-766B7F2D414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D1E6917-6DAD-4F74-8694-721ADD3F450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2CD128B6-4BF3-4D40-99F8-B09EDC7C31FB}"/>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BAF48B5B-DE6C-4FCC-B493-4E4F323F823E}"/>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1</a:t>
            </a:r>
          </a:p>
        </p:txBody>
      </p:sp>
      <p:sp>
        <p:nvSpPr>
          <p:cNvPr id="8" name="Content-Placeholder-15-9">
            <a:extLst xmlns:a="http://schemas.openxmlformats.org/drawingml/2006/main">
              <a:ext uri="{FF2B5EF4-FFF2-40B4-BE49-F238E27FC236}">
                <a16:creationId xmlns:a16="http://schemas.microsoft.com/office/drawing/2014/main" id="{BF26DA1B-83A5-4BF8-ADEF-BA2D6EDEF5D7}"/>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2</a:t>
            </a:r>
          </a:p>
        </p:txBody>
      </p:sp>
      <p:sp>
        <p:nvSpPr>
          <p:cNvPr id="9" name="Content-Placeholder-15-10">
            <a:extLst xmlns:a="http://schemas.openxmlformats.org/drawingml/2006/main">
              <a:ext uri="{FF2B5EF4-FFF2-40B4-BE49-F238E27FC236}">
                <a16:creationId xmlns:a16="http://schemas.microsoft.com/office/drawing/2014/main" id="{49CFE180-8003-4CCE-A653-793324EB3219}"/>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ƯU TIÊN 3</a:t>
            </a:r>
          </a:p>
        </p:txBody>
      </p:sp>
      <p:sp>
        <p:nvSpPr>
          <p:cNvPr id="10" name="Text-Placeholder-16-11">
            <a:extLst xmlns:a="http://schemas.openxmlformats.org/drawingml/2006/main">
              <a:ext uri="{FF2B5EF4-FFF2-40B4-BE49-F238E27FC236}">
                <a16:creationId xmlns:a16="http://schemas.microsoft.com/office/drawing/2014/main" id="{2355C4A5-A909-4538-8C34-914C7831EC66}"/>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Mở rộng phạm vi</a:t>
            </a:r>
          </a:p>
          <a:p xmlns:a="http://schemas.openxmlformats.org/drawingml/2006/main">
            <a:pPr algn="l">
              <a:defRPr sz="2400">
                <a:solidFill>
                  <a:srgbClr val="000000"/>
                </a:solidFill>
                <a:latin typeface="Helvetica Neue"/>
                <a:ea typeface="Helvetica Neue"/>
                <a:cs typeface="Helvetica Neue"/>
              </a:defRPr>
            </a:pPr>
            <a:r>
              <a:t>Từ 3 biểu mẫu lên danh mục ưu tiên dựa trên tần suất và mức rủi ro.</a:t>
            </a:r>
          </a:p>
        </p:txBody>
      </p:sp>
      <p:sp>
        <p:nvSpPr>
          <p:cNvPr id="11" name="Text-Placeholder-16-12">
            <a:extLst xmlns:a="http://schemas.openxmlformats.org/drawingml/2006/main">
              <a:ext uri="{FF2B5EF4-FFF2-40B4-BE49-F238E27FC236}">
                <a16:creationId xmlns:a16="http://schemas.microsoft.com/office/drawing/2014/main" id="{D82FF974-785B-4772-9C92-DF4FB03C7B00}"/>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Tích hợp chính thức</a:t>
            </a:r>
          </a:p>
          <a:p xmlns:a="http://schemas.openxmlformats.org/drawingml/2006/main">
            <a:pPr algn="l">
              <a:defRPr sz="2400">
                <a:solidFill>
                  <a:srgbClr val="000000"/>
                </a:solidFill>
                <a:latin typeface="Helvetica Neue"/>
                <a:ea typeface="Helvetica Neue"/>
                <a:cs typeface="Helvetica Neue"/>
              </a:defRPr>
            </a:pPr>
            <a:r>
              <a:t>API, định danh và ký số. Hiện tại có 0 hồ sơ gửi thật — chỉ mô phỏng có biên nhận.</a:t>
            </a:r>
          </a:p>
        </p:txBody>
      </p:sp>
      <p:sp>
        <p:nvSpPr>
          <p:cNvPr id="12" name="Text-Placeholder-16-13">
            <a:extLst xmlns:a="http://schemas.openxmlformats.org/drawingml/2006/main">
              <a:ext uri="{FF2B5EF4-FFF2-40B4-BE49-F238E27FC236}">
                <a16:creationId xmlns:a16="http://schemas.microsoft.com/office/drawing/2014/main" id="{9E096570-0ED1-4B06-871F-87D3AA6DE3B8}"/>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Kiểm thử rộng hơn</a:t>
            </a:r>
          </a:p>
          <a:p xmlns:a="http://schemas.openxmlformats.org/drawingml/2006/main">
            <a:pPr algn="l">
              <a:defRPr sz="2400">
                <a:solidFill>
                  <a:srgbClr val="000000"/>
                </a:solidFill>
                <a:latin typeface="Helvetica Neue"/>
                <a:ea typeface="Helvetica Neue"/>
                <a:cs typeface="Helvetica Neue"/>
              </a:defRPr>
            </a:pPr>
            <a:r>
              <a:t>Vượt mẫu 5 người; bổ sung người lớn tuổi, mobile và khả năng tiếp cận.</a:t>
            </a:r>
          </a:p>
        </p:txBody>
      </p:sp>
    </p:spTree>
    <p:extLst>
      <p:ext uri="{BB962C8B-B14F-4D97-AF65-F5344CB8AC3E}">
        <p14:creationId xmlns:p14="http://schemas.microsoft.com/office/powerpoint/2010/main" val="67226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2026-07-31T08:46:56.7810000Z</dcterms:created>
  <dcterms:modified xsi:type="dcterms:W3CDTF">2026-07-31T08:46:56.7810000Z</dcterms:modified>
</coreProperties>
</file>